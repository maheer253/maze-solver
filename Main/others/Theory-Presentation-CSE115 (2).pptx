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Inter" panose="020B0604020202020204" charset="0"/>
      <p:regular r:id="rId11"/>
      <p:bold r:id="rId12"/>
      <p:italic r:id="rId13"/>
      <p:boldItalic r:id="rId14"/>
    </p:embeddedFont>
    <p:embeddedFont>
      <p:font typeface="Inter ExtraBold" panose="020B0604020202020204" charset="0"/>
      <p:bold r:id="rId15"/>
      <p:boldItalic r:id="rId16"/>
    </p:embeddedFont>
    <p:embeddedFont>
      <p:font typeface="Inter SemiBold" panose="020B0604020202020204" charset="0"/>
      <p:regular r:id="rId17"/>
      <p:bold r:id="rId18"/>
      <p:italic r:id="rId19"/>
      <p:boldItalic r:id="rId20"/>
    </p:embeddedFont>
    <p:embeddedFont>
      <p:font typeface="JetBrains Mono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5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65783"/>
            <a:ext cx="12192000" cy="63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762250" y="3906142"/>
            <a:ext cx="6500812" cy="16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666750" y="6553200"/>
            <a:ext cx="19145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Group 05</a:t>
            </a:r>
            <a:r>
              <a:rPr lang="en-US" sz="900" b="0" i="0" u="none" strike="noStrike" cap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 | Automated Maze Solver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0553700" y="6553200"/>
            <a:ext cx="9715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Final Presentation</a:t>
            </a:r>
            <a:endParaRPr/>
          </a:p>
        </p:txBody>
      </p:sp>
      <p:pic>
        <p:nvPicPr>
          <p:cNvPr id="90" name="Google Shape;90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21039" y="846832"/>
            <a:ext cx="1749772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2595562" y="1456432"/>
            <a:ext cx="7000875" cy="710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 dirty="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Maze Solver</a:t>
            </a:r>
            <a:endParaRPr dirty="0"/>
          </a:p>
        </p:txBody>
      </p:sp>
      <p:sp>
        <p:nvSpPr>
          <p:cNvPr id="92" name="Google Shape;92;p13"/>
          <p:cNvSpPr txBox="1"/>
          <p:nvPr/>
        </p:nvSpPr>
        <p:spPr>
          <a:xfrm>
            <a:off x="2762250" y="2820292"/>
            <a:ext cx="66675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 Maze Solver that generates random mazes and solve using search algorithms</a:t>
            </a:r>
            <a:endParaRPr dirty="0"/>
          </a:p>
        </p:txBody>
      </p:sp>
      <p:sp>
        <p:nvSpPr>
          <p:cNvPr id="93" name="Google Shape;93;p13"/>
          <p:cNvSpPr txBox="1"/>
          <p:nvPr/>
        </p:nvSpPr>
        <p:spPr>
          <a:xfrm>
            <a:off x="3248024" y="4201417"/>
            <a:ext cx="455627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1. [</a:t>
            </a:r>
            <a:r>
              <a:rPr lang="en-US" b="1" dirty="0">
                <a:latin typeface="Inter" panose="020B0604020202020204" charset="0"/>
                <a:ea typeface="Inter" panose="020B0604020202020204" charset="0"/>
              </a:rPr>
              <a:t>Amrita Biswas</a:t>
            </a:r>
            <a:r>
              <a:rPr lang="en-US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]</a:t>
            </a:r>
            <a:r>
              <a:rPr lang="en-US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</a:t>
            </a:r>
            <a:r>
              <a:rPr lang="en-US" b="1" dirty="0">
                <a:latin typeface="Inter" panose="020B0604020202020204" charset="0"/>
                <a:ea typeface="Inter" panose="020B0604020202020204" charset="0"/>
              </a:rPr>
              <a:t>2022015642</a:t>
            </a:r>
            <a:r>
              <a:rPr lang="en-US" b="0" i="0" u="none" strike="noStrike" cap="none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]</a:t>
            </a:r>
            <a:endParaRPr dirty="0"/>
          </a:p>
        </p:txBody>
      </p:sp>
      <p:sp>
        <p:nvSpPr>
          <p:cNvPr id="94" name="Google Shape;94;p13"/>
          <p:cNvSpPr txBox="1"/>
          <p:nvPr/>
        </p:nvSpPr>
        <p:spPr>
          <a:xfrm>
            <a:off x="3248024" y="4505085"/>
            <a:ext cx="446058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2. [Md. Muhtasim Fuad </a:t>
            </a:r>
            <a:r>
              <a:rPr lang="en-US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Nafim</a:t>
            </a:r>
            <a:r>
              <a:rPr lang="en-US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]</a:t>
            </a:r>
            <a:r>
              <a:rPr lang="en-US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</a:t>
            </a:r>
            <a:r>
              <a:rPr lang="en-US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2533150042</a:t>
            </a:r>
            <a:r>
              <a:rPr lang="en-US" b="0" i="0" u="none" strike="noStrike" cap="none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]</a:t>
            </a:r>
            <a:endParaRPr dirty="0"/>
          </a:p>
        </p:txBody>
      </p:sp>
      <p:sp>
        <p:nvSpPr>
          <p:cNvPr id="95" name="Google Shape;95;p13"/>
          <p:cNvSpPr txBox="1"/>
          <p:nvPr/>
        </p:nvSpPr>
        <p:spPr>
          <a:xfrm>
            <a:off x="3248024" y="4808753"/>
            <a:ext cx="400338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3. [</a:t>
            </a:r>
            <a:r>
              <a:rPr lang="en-US" b="1" dirty="0">
                <a:latin typeface="Inter" panose="020B0604020202020204" charset="0"/>
                <a:ea typeface="Inter" panose="020B0604020202020204" charset="0"/>
              </a:rPr>
              <a:t>Maheer Diyan </a:t>
            </a:r>
            <a:r>
              <a:rPr lang="en-US" b="1" dirty="0" err="1">
                <a:latin typeface="Inter" panose="020B0604020202020204" charset="0"/>
                <a:ea typeface="Inter" panose="020B0604020202020204" charset="0"/>
              </a:rPr>
              <a:t>Shuddho</a:t>
            </a:r>
            <a:r>
              <a:rPr lang="en-US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]</a:t>
            </a:r>
            <a:r>
              <a:rPr lang="en-US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</a:t>
            </a:r>
            <a:r>
              <a:rPr lang="en-US" b="1" dirty="0">
                <a:latin typeface="Inter" panose="020B0604020202020204" charset="0"/>
                <a:ea typeface="Inter" panose="020B0604020202020204" charset="0"/>
              </a:rPr>
              <a:t>2533366042</a:t>
            </a:r>
            <a:r>
              <a:rPr lang="en-US" b="0" i="0" u="none" strike="noStrike" cap="none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]</a:t>
            </a:r>
            <a:endParaRPr dirty="0"/>
          </a:p>
        </p:txBody>
      </p:sp>
      <p:sp>
        <p:nvSpPr>
          <p:cNvPr id="96" name="Google Shape;96;p13"/>
          <p:cNvSpPr txBox="1"/>
          <p:nvPr/>
        </p:nvSpPr>
        <p:spPr>
          <a:xfrm>
            <a:off x="3248024" y="5089057"/>
            <a:ext cx="358871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4. [</a:t>
            </a:r>
            <a:r>
              <a:rPr lang="en-US" b="1" dirty="0" err="1">
                <a:latin typeface="Inter" panose="020B0604020202020204" charset="0"/>
                <a:ea typeface="Inter" panose="020B0604020202020204" charset="0"/>
              </a:rPr>
              <a:t>Tanjerul</a:t>
            </a:r>
            <a:r>
              <a:rPr lang="en-US" b="1" dirty="0">
                <a:latin typeface="Inter" panose="020B0604020202020204" charset="0"/>
                <a:ea typeface="Inter" panose="020B0604020202020204" charset="0"/>
              </a:rPr>
              <a:t> Abedin</a:t>
            </a:r>
            <a:r>
              <a:rPr lang="en-US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]</a:t>
            </a:r>
            <a:r>
              <a:rPr lang="en-US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</a:t>
            </a:r>
            <a:r>
              <a:rPr lang="en-US" dirty="0">
                <a:latin typeface="Inter" panose="020B0604020202020204" charset="0"/>
                <a:ea typeface="Inter" panose="020B0604020202020204" charset="0"/>
              </a:rPr>
              <a:t>2531408642</a:t>
            </a:r>
            <a:r>
              <a:rPr lang="en-US" b="0" i="0" u="none" strike="noStrike" cap="none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]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86925" y="280987"/>
            <a:ext cx="183832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29375" y="1238250"/>
            <a:ext cx="5095875" cy="132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29375" y="2752725"/>
            <a:ext cx="5095875" cy="1323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/>
          <p:nvPr/>
        </p:nvSpPr>
        <p:spPr>
          <a:xfrm>
            <a:off x="0" y="423862"/>
            <a:ext cx="12192000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666750" y="6553200"/>
            <a:ext cx="19145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Group 05</a:t>
            </a:r>
            <a:r>
              <a:rPr lang="en-US" sz="900" b="0" i="0" u="none" strike="noStrike" cap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 | Automated Maze Solver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11049000" y="6553200"/>
            <a:ext cx="4762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Page 2/8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666750" y="180975"/>
            <a:ext cx="2505313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Project Overview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666750" y="514350"/>
            <a:ext cx="2386012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056B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SCOPE &amp; STRATEGIC SIGNIFICANCE</a:t>
            </a:r>
            <a:endParaRPr/>
          </a:p>
        </p:txBody>
      </p:sp>
      <p:pic>
        <p:nvPicPr>
          <p:cNvPr id="113" name="Google Shape;113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810750" y="366712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 txBox="1"/>
          <p:nvPr/>
        </p:nvSpPr>
        <p:spPr>
          <a:xfrm>
            <a:off x="666750" y="1238250"/>
            <a:ext cx="5350668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Problem Statement</a:t>
            </a:r>
            <a:endParaRPr/>
          </a:p>
        </p:txBody>
      </p:sp>
      <p:sp>
        <p:nvSpPr>
          <p:cNvPr id="115" name="Google Shape;115;p14"/>
          <p:cNvSpPr/>
          <p:nvPr/>
        </p:nvSpPr>
        <p:spPr>
          <a:xfrm>
            <a:off x="666750" y="1600200"/>
            <a:ext cx="5095875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666750" y="1809750"/>
            <a:ext cx="5095875" cy="310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9921"/>
              </a:lnSpc>
            </a:pPr>
            <a:r>
              <a:rPr lang="en-US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Pathfinding and procedural generation are basic problems within computer science. This project provides a closed system optimized to:</a:t>
            </a:r>
          </a:p>
          <a:p>
            <a:pPr lvl="0">
              <a:lnSpc>
                <a:spcPct val="159921"/>
              </a:lnSpc>
            </a:pPr>
            <a:r>
              <a:rPr lang="en-US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1. Create a valid, solvable maze with random logic.</a:t>
            </a:r>
          </a:p>
          <a:p>
            <a:pPr lvl="0">
              <a:lnSpc>
                <a:spcPct val="159921"/>
              </a:lnSpc>
            </a:pPr>
            <a:r>
              <a:rPr lang="en-US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2. Find the solution path on your own by traversing graphs.</a:t>
            </a:r>
          </a:p>
          <a:p>
            <a:pPr lvl="0">
              <a:lnSpc>
                <a:spcPct val="159921"/>
              </a:lnSpc>
            </a:pPr>
            <a:r>
              <a:rPr lang="en-US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3. Visualize the result in a C environment that is safe in memory.</a:t>
            </a:r>
          </a:p>
          <a:p>
            <a:pPr lvl="0">
              <a:lnSpc>
                <a:spcPct val="159921"/>
              </a:lnSpc>
            </a:pPr>
            <a:endParaRPr lang="en-US" dirty="0">
              <a:solidFill>
                <a:srgbClr val="37415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8" name="Google Shape;118;p14"/>
          <p:cNvSpPr txBox="1"/>
          <p:nvPr/>
        </p:nvSpPr>
        <p:spPr>
          <a:xfrm>
            <a:off x="857250" y="2777132"/>
            <a:ext cx="490537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3" name="Google Shape;123;p14"/>
          <p:cNvSpPr/>
          <p:nvPr/>
        </p:nvSpPr>
        <p:spPr>
          <a:xfrm>
            <a:off x="11492673" y="1281707"/>
            <a:ext cx="38100" cy="13049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4"/>
          <p:cNvSpPr/>
          <p:nvPr/>
        </p:nvSpPr>
        <p:spPr>
          <a:xfrm>
            <a:off x="11511723" y="2748875"/>
            <a:ext cx="38100" cy="13049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24650" y="15811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724650" y="3048000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4"/>
          <p:cNvSpPr txBox="1"/>
          <p:nvPr/>
        </p:nvSpPr>
        <p:spPr>
          <a:xfrm>
            <a:off x="7143750" y="1533525"/>
            <a:ext cx="429053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Low-Level Efficiency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7143750" y="1809750"/>
            <a:ext cx="40862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Direct memory management using pointers and structs to ensure minimal overhead.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7115175" y="3048000"/>
            <a:ext cx="432054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Algorithm Design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7115175" y="3324225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Implementation of Randomized DFS and Backtracking heuristics for optimal maze creation.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77450" y="280987"/>
            <a:ext cx="14478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" y="1238250"/>
            <a:ext cx="5095875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29375" y="1238250"/>
            <a:ext cx="5095875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5"/>
          <p:cNvSpPr/>
          <p:nvPr/>
        </p:nvSpPr>
        <p:spPr>
          <a:xfrm>
            <a:off x="0" y="423862"/>
            <a:ext cx="12192000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 txBox="1"/>
          <p:nvPr/>
        </p:nvSpPr>
        <p:spPr>
          <a:xfrm>
            <a:off x="666750" y="6553200"/>
            <a:ext cx="19145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Group 05</a:t>
            </a:r>
            <a:r>
              <a:rPr lang="en-US" sz="900" b="0" i="0" u="none" strike="noStrike" cap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 | Automated Maze Solver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11049000" y="6553200"/>
            <a:ext cx="4762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Page 3/8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666750" y="180975"/>
            <a:ext cx="2522346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System Architecture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666750" y="514350"/>
            <a:ext cx="2402234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056B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TWO-PHASE EXECUTION STRATEGY</a:t>
            </a:r>
            <a:endParaRPr/>
          </a:p>
        </p:txBody>
      </p:sp>
      <p:sp>
        <p:nvSpPr>
          <p:cNvPr id="145" name="Google Shape;145;p15"/>
          <p:cNvSpPr/>
          <p:nvPr/>
        </p:nvSpPr>
        <p:spPr>
          <a:xfrm>
            <a:off x="5719904" y="1234409"/>
            <a:ext cx="38100" cy="47434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2025" y="153352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5"/>
          <p:cNvSpPr txBox="1"/>
          <p:nvPr/>
        </p:nvSpPr>
        <p:spPr>
          <a:xfrm>
            <a:off x="962025" y="2105025"/>
            <a:ext cx="473059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Phase 1: Generation</a:t>
            </a:r>
            <a:endParaRPr/>
          </a:p>
        </p:txBody>
      </p:sp>
      <p:sp>
        <p:nvSpPr>
          <p:cNvPr id="148" name="Google Shape;148;p15"/>
          <p:cNvSpPr/>
          <p:nvPr/>
        </p:nvSpPr>
        <p:spPr>
          <a:xfrm>
            <a:off x="962025" y="2466975"/>
            <a:ext cx="4505325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5"/>
          <p:cNvSpPr txBox="1"/>
          <p:nvPr/>
        </p:nvSpPr>
        <p:spPr>
          <a:xfrm>
            <a:off x="962025" y="2676525"/>
            <a:ext cx="4505325" cy="25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Algo: Recursive Backtracker</a:t>
            </a:r>
            <a:endParaRPr dirty="0"/>
          </a:p>
        </p:txBody>
      </p:sp>
      <p:sp>
        <p:nvSpPr>
          <p:cNvPr id="150" name="Google Shape;150;p15"/>
          <p:cNvSpPr/>
          <p:nvPr/>
        </p:nvSpPr>
        <p:spPr>
          <a:xfrm>
            <a:off x="11466739" y="1277272"/>
            <a:ext cx="38100" cy="47434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24650" y="153352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5"/>
          <p:cNvSpPr txBox="1"/>
          <p:nvPr/>
        </p:nvSpPr>
        <p:spPr>
          <a:xfrm>
            <a:off x="6724650" y="2105025"/>
            <a:ext cx="473059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Phase 2: Solver</a:t>
            </a:r>
            <a:endParaRPr/>
          </a:p>
        </p:txBody>
      </p:sp>
      <p:sp>
        <p:nvSpPr>
          <p:cNvPr id="153" name="Google Shape;153;p15"/>
          <p:cNvSpPr/>
          <p:nvPr/>
        </p:nvSpPr>
        <p:spPr>
          <a:xfrm>
            <a:off x="6724650" y="2466975"/>
            <a:ext cx="4505325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5"/>
          <p:cNvSpPr txBox="1"/>
          <p:nvPr/>
        </p:nvSpPr>
        <p:spPr>
          <a:xfrm>
            <a:off x="6724650" y="2676525"/>
            <a:ext cx="4505325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9921"/>
              </a:lnSpc>
            </a:pPr>
            <a:r>
              <a:rPr lang="en-US" sz="1275" b="1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Algorithm: Depth-first search (DFS)</a:t>
            </a:r>
            <a:endParaRPr dirty="0"/>
          </a:p>
        </p:txBody>
      </p:sp>
      <p:pic>
        <p:nvPicPr>
          <p:cNvPr id="155" name="Google Shape;155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57275" y="162877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5"/>
          <p:cNvSpPr txBox="1"/>
          <p:nvPr/>
        </p:nvSpPr>
        <p:spPr>
          <a:xfrm>
            <a:off x="1247775" y="3126938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7" name="Google Shape;157;p15"/>
          <p:cNvSpPr txBox="1"/>
          <p:nvPr/>
        </p:nvSpPr>
        <p:spPr>
          <a:xfrm>
            <a:off x="1343025" y="3125985"/>
            <a:ext cx="4124325" cy="25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Starts with a solid grid (all walls).</a:t>
            </a:r>
            <a:endParaRPr dirty="0"/>
          </a:p>
        </p:txBody>
      </p:sp>
      <p:sp>
        <p:nvSpPr>
          <p:cNvPr id="158" name="Google Shape;158;p15"/>
          <p:cNvSpPr txBox="1"/>
          <p:nvPr/>
        </p:nvSpPr>
        <p:spPr>
          <a:xfrm>
            <a:off x="1247775" y="3551456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159" name="Google Shape;159;p15"/>
          <p:cNvSpPr txBox="1"/>
          <p:nvPr/>
        </p:nvSpPr>
        <p:spPr>
          <a:xfrm>
            <a:off x="1343025" y="3518296"/>
            <a:ext cx="4124325" cy="941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lvl="0">
              <a:lnSpc>
                <a:spcPct val="159921"/>
              </a:lnSpc>
            </a:pPr>
            <a:r>
              <a:rPr lang="en-US" sz="1275" b="0" i="0" u="none" strike="noStrike" cap="none" dirty="0" err="1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Us</a:t>
            </a:r>
            <a:r>
              <a:rPr lang="en-US" sz="1275" dirty="0" err="1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Fisher</a:t>
            </a:r>
            <a:r>
              <a:rPr lang="en-US" sz="1275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-Yates Shuffle is used in order to randomize the direction vectors.</a:t>
            </a:r>
            <a:r>
              <a:rPr lang="en-US" sz="1275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es </a:t>
            </a:r>
            <a:r>
              <a:rPr lang="en-US" sz="1275" b="1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Fisher-Yates Shuffle</a:t>
            </a:r>
            <a:r>
              <a:rPr lang="en-US" sz="1275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to randomize direction vectors.</a:t>
            </a:r>
            <a:endParaRPr dirty="0"/>
          </a:p>
        </p:txBody>
      </p:sp>
      <p:sp>
        <p:nvSpPr>
          <p:cNvPr id="160" name="Google Shape;160;p15"/>
          <p:cNvSpPr txBox="1"/>
          <p:nvPr/>
        </p:nvSpPr>
        <p:spPr>
          <a:xfrm>
            <a:off x="1197649" y="4502824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161" name="Google Shape;161;p15"/>
          <p:cNvSpPr txBox="1"/>
          <p:nvPr/>
        </p:nvSpPr>
        <p:spPr>
          <a:xfrm>
            <a:off x="1322614" y="4427696"/>
            <a:ext cx="4124325" cy="627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lvl="0">
              <a:lnSpc>
                <a:spcPct val="159921"/>
              </a:lnSpc>
            </a:pPr>
            <a:r>
              <a:rPr lang="en-US" sz="1275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Guarantees a "Perfect Maze" - no loops, fully connected.</a:t>
            </a:r>
            <a:endParaRPr dirty="0"/>
          </a:p>
        </p:txBody>
      </p:sp>
      <p:pic>
        <p:nvPicPr>
          <p:cNvPr id="162" name="Google Shape;162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805612" y="1628775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5"/>
          <p:cNvSpPr txBox="1"/>
          <p:nvPr/>
        </p:nvSpPr>
        <p:spPr>
          <a:xfrm>
            <a:off x="7010400" y="3126938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7105650" y="3125985"/>
            <a:ext cx="4124325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lvl="0">
              <a:lnSpc>
                <a:spcPct val="159921"/>
              </a:lnSpc>
            </a:pPr>
            <a:r>
              <a:rPr lang="en-US" sz="1275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Passes through the point (1,1).</a:t>
            </a:r>
            <a:endParaRPr dirty="0"/>
          </a:p>
        </p:txBody>
      </p:sp>
      <p:sp>
        <p:nvSpPr>
          <p:cNvPr id="165" name="Google Shape;165;p15"/>
          <p:cNvSpPr txBox="1"/>
          <p:nvPr/>
        </p:nvSpPr>
        <p:spPr>
          <a:xfrm>
            <a:off x="7010400" y="3519249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6" name="Google Shape;166;p15"/>
          <p:cNvSpPr txBox="1"/>
          <p:nvPr/>
        </p:nvSpPr>
        <p:spPr>
          <a:xfrm>
            <a:off x="7105650" y="3518296"/>
            <a:ext cx="4124325" cy="25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Recursively explores neighbors.</a:t>
            </a:r>
            <a:endParaRPr dirty="0"/>
          </a:p>
        </p:txBody>
      </p:sp>
      <p:sp>
        <p:nvSpPr>
          <p:cNvPr id="167" name="Google Shape;167;p15"/>
          <p:cNvSpPr txBox="1"/>
          <p:nvPr/>
        </p:nvSpPr>
        <p:spPr>
          <a:xfrm>
            <a:off x="7010400" y="391156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8" name="Google Shape;168;p15"/>
          <p:cNvSpPr txBox="1"/>
          <p:nvPr/>
        </p:nvSpPr>
        <p:spPr>
          <a:xfrm>
            <a:off x="7105650" y="3910607"/>
            <a:ext cx="4124325" cy="941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lvl="0">
              <a:lnSpc>
                <a:spcPct val="159921"/>
              </a:lnSpc>
            </a:pPr>
            <a:r>
              <a:rPr lang="en-US" sz="1275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Employed backtracking in order to unmark all dead-end paths, leaving only the correct solution visible.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477500" y="280987"/>
            <a:ext cx="1047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6"/>
          <p:cNvSpPr/>
          <p:nvPr/>
        </p:nvSpPr>
        <p:spPr>
          <a:xfrm>
            <a:off x="0" y="423862"/>
            <a:ext cx="12192000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6"/>
          <p:cNvSpPr txBox="1"/>
          <p:nvPr/>
        </p:nvSpPr>
        <p:spPr>
          <a:xfrm>
            <a:off x="666750" y="6553200"/>
            <a:ext cx="19145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Group 05</a:t>
            </a:r>
            <a:r>
              <a:rPr lang="en-US" sz="900" b="0" i="0" u="none" strike="noStrike" cap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 | Automated Maze Solver</a:t>
            </a:r>
            <a:endParaRPr/>
          </a:p>
        </p:txBody>
      </p:sp>
      <p:sp>
        <p:nvSpPr>
          <p:cNvPr id="180" name="Google Shape;180;p16"/>
          <p:cNvSpPr txBox="1"/>
          <p:nvPr/>
        </p:nvSpPr>
        <p:spPr>
          <a:xfrm>
            <a:off x="11039475" y="6553200"/>
            <a:ext cx="4857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Page 4/8</a:t>
            </a:r>
            <a:endParaRPr/>
          </a:p>
        </p:txBody>
      </p:sp>
      <p:sp>
        <p:nvSpPr>
          <p:cNvPr id="181" name="Google Shape;181;p16"/>
          <p:cNvSpPr txBox="1"/>
          <p:nvPr/>
        </p:nvSpPr>
        <p:spPr>
          <a:xfrm>
            <a:off x="666750" y="180975"/>
            <a:ext cx="3405269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Implementation: Generation</a:t>
            </a:r>
            <a:endParaRPr/>
          </a:p>
        </p:txBody>
      </p:sp>
      <p:sp>
        <p:nvSpPr>
          <p:cNvPr id="182" name="Google Shape;182;p16"/>
          <p:cNvSpPr txBox="1"/>
          <p:nvPr/>
        </p:nvSpPr>
        <p:spPr>
          <a:xfrm>
            <a:off x="666750" y="514350"/>
            <a:ext cx="3243113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056B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RECURSIVE BACKTRACKING LOGIC</a:t>
            </a:r>
            <a:endParaRPr/>
          </a:p>
        </p:txBody>
      </p:sp>
      <p:sp>
        <p:nvSpPr>
          <p:cNvPr id="183" name="Google Shape;183;p16"/>
          <p:cNvSpPr txBox="1"/>
          <p:nvPr/>
        </p:nvSpPr>
        <p:spPr>
          <a:xfrm>
            <a:off x="7448550" y="1238250"/>
            <a:ext cx="428053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Logic Architecture</a:t>
            </a:r>
            <a:endParaRPr dirty="0"/>
          </a:p>
        </p:txBody>
      </p:sp>
      <p:sp>
        <p:nvSpPr>
          <p:cNvPr id="184" name="Google Shape;184;p16"/>
          <p:cNvSpPr/>
          <p:nvPr/>
        </p:nvSpPr>
        <p:spPr>
          <a:xfrm>
            <a:off x="7448550" y="1600200"/>
            <a:ext cx="40767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6"/>
          <p:cNvSpPr txBox="1"/>
          <p:nvPr/>
        </p:nvSpPr>
        <p:spPr>
          <a:xfrm>
            <a:off x="7448549" y="1809750"/>
            <a:ext cx="4280535" cy="627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9921"/>
              </a:lnSpc>
            </a:pPr>
            <a:r>
              <a:rPr lang="en-US" sz="1275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Recursion combined with randomization builds into the base generation logic that creates diverse models.</a:t>
            </a:r>
            <a:endParaRPr dirty="0"/>
          </a:p>
        </p:txBody>
      </p:sp>
      <p:sp>
        <p:nvSpPr>
          <p:cNvPr id="205" name="Google Shape;205;p16"/>
          <p:cNvSpPr txBox="1"/>
          <p:nvPr/>
        </p:nvSpPr>
        <p:spPr>
          <a:xfrm>
            <a:off x="7448550" y="2613421"/>
            <a:ext cx="4076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120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Unbiased shuffle </a:t>
            </a:r>
            <a:r>
              <a:rPr lang="en-US" sz="12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ensures that maze layout is unpredictable and nonlinear.</a:t>
            </a:r>
            <a:endParaRPr dirty="0"/>
          </a:p>
        </p:txBody>
      </p:sp>
      <p:sp>
        <p:nvSpPr>
          <p:cNvPr id="206" name="Google Shape;206;p16"/>
          <p:cNvSpPr txBox="1"/>
          <p:nvPr/>
        </p:nvSpPr>
        <p:spPr>
          <a:xfrm>
            <a:off x="7448550" y="3232546"/>
            <a:ext cx="4076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120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Stack Usage </a:t>
            </a:r>
            <a:r>
              <a:rPr lang="en-US" sz="12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It uses the call stack to "remember" how to get back when a dead end is reached.</a:t>
            </a:r>
            <a:endParaRPr lang="en-US" dirty="0"/>
          </a:p>
        </p:txBody>
      </p:sp>
      <p:pic>
        <p:nvPicPr>
          <p:cNvPr id="5" name="Picture 4" descr="A computer screen shot of a program">
            <a:extLst>
              <a:ext uri="{FF2B5EF4-FFF2-40B4-BE49-F238E27FC236}">
                <a16:creationId xmlns:a16="http://schemas.microsoft.com/office/drawing/2014/main" id="{7F4BB977-4D9B-8629-2A03-4B05933119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50" y="1100136"/>
            <a:ext cx="5829743" cy="49006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477500" y="280987"/>
            <a:ext cx="1047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7"/>
          <p:cNvSpPr/>
          <p:nvPr/>
        </p:nvSpPr>
        <p:spPr>
          <a:xfrm>
            <a:off x="0" y="423862"/>
            <a:ext cx="12192000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7"/>
          <p:cNvSpPr txBox="1"/>
          <p:nvPr/>
        </p:nvSpPr>
        <p:spPr>
          <a:xfrm>
            <a:off x="666750" y="6553200"/>
            <a:ext cx="19145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Group 05</a:t>
            </a:r>
            <a:r>
              <a:rPr lang="en-US" sz="900" b="0" i="0" u="none" strike="noStrike" cap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 | Automated Maze Solver</a:t>
            </a:r>
            <a:endParaRPr/>
          </a:p>
        </p:txBody>
      </p:sp>
      <p:sp>
        <p:nvSpPr>
          <p:cNvPr id="218" name="Google Shape;218;p17"/>
          <p:cNvSpPr txBox="1"/>
          <p:nvPr/>
        </p:nvSpPr>
        <p:spPr>
          <a:xfrm>
            <a:off x="11049000" y="6553200"/>
            <a:ext cx="4762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Page 5/8</a:t>
            </a:r>
            <a:endParaRPr/>
          </a:p>
        </p:txBody>
      </p:sp>
      <p:sp>
        <p:nvSpPr>
          <p:cNvPr id="219" name="Google Shape;219;p17"/>
          <p:cNvSpPr txBox="1"/>
          <p:nvPr/>
        </p:nvSpPr>
        <p:spPr>
          <a:xfrm>
            <a:off x="666750" y="180975"/>
            <a:ext cx="2835979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Implementation: Solver</a:t>
            </a:r>
            <a:endParaRPr/>
          </a:p>
        </p:txBody>
      </p:sp>
      <p:sp>
        <p:nvSpPr>
          <p:cNvPr id="220" name="Google Shape;220;p17"/>
          <p:cNvSpPr txBox="1"/>
          <p:nvPr/>
        </p:nvSpPr>
        <p:spPr>
          <a:xfrm>
            <a:off x="666750" y="514350"/>
            <a:ext cx="2700932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056B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DEPTH-FIRST SEARCH (DFS)</a:t>
            </a:r>
            <a:endParaRPr/>
          </a:p>
        </p:txBody>
      </p:sp>
      <p:sp>
        <p:nvSpPr>
          <p:cNvPr id="221" name="Google Shape;221;p17"/>
          <p:cNvSpPr txBox="1"/>
          <p:nvPr/>
        </p:nvSpPr>
        <p:spPr>
          <a:xfrm>
            <a:off x="666750" y="1238250"/>
            <a:ext cx="428053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Backtracking Strategy</a:t>
            </a:r>
            <a:endParaRPr dirty="0"/>
          </a:p>
        </p:txBody>
      </p:sp>
      <p:sp>
        <p:nvSpPr>
          <p:cNvPr id="222" name="Google Shape;222;p17"/>
          <p:cNvSpPr/>
          <p:nvPr/>
        </p:nvSpPr>
        <p:spPr>
          <a:xfrm>
            <a:off x="666750" y="1600200"/>
            <a:ext cx="40767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7"/>
          <p:cNvSpPr txBox="1"/>
          <p:nvPr/>
        </p:nvSpPr>
        <p:spPr>
          <a:xfrm>
            <a:off x="666750" y="1809750"/>
            <a:ext cx="4076700" cy="941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9921"/>
              </a:lnSpc>
            </a:pPr>
            <a:r>
              <a:rPr lang="en-US" sz="1275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Cell visiting marks the path, in which case there is backtracking in the event that a cell leads to a dead end.</a:t>
            </a:r>
            <a:endParaRPr dirty="0"/>
          </a:p>
        </p:txBody>
      </p:sp>
      <p:pic>
        <p:nvPicPr>
          <p:cNvPr id="224" name="Google Shape;224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3072407"/>
            <a:ext cx="36766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7"/>
          <p:cNvSpPr txBox="1"/>
          <p:nvPr/>
        </p:nvSpPr>
        <p:spPr>
          <a:xfrm>
            <a:off x="866775" y="3320057"/>
            <a:ext cx="3676650" cy="1175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125" b="1" i="0" u="none" strike="noStrike" cap="none" dirty="0">
                <a:solidFill>
                  <a:srgbClr val="92400E"/>
                </a:solidFill>
                <a:latin typeface="Inter"/>
                <a:ea typeface="Inter"/>
                <a:cs typeface="Inter"/>
                <a:sym typeface="Inter"/>
              </a:rPr>
              <a:t>Insight:</a:t>
            </a:r>
            <a:r>
              <a:rPr lang="en-US" sz="1125" b="0" i="0" u="none" strike="noStrike" cap="none" dirty="0">
                <a:solidFill>
                  <a:srgbClr val="92400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dirty="0">
                <a:solidFill>
                  <a:srgbClr val="92400E"/>
                </a:solidFill>
                <a:latin typeface="Inter"/>
                <a:ea typeface="Inter"/>
                <a:cs typeface="Inter"/>
                <a:sym typeface="Inter"/>
              </a:rPr>
              <a:t>This is what helps ensure that the only path that is marked with '*' after completion is the successful path.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446916-172D-C09B-5CE0-5A895D93C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8464" y="1100137"/>
            <a:ext cx="4280536" cy="37909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477500" y="280987"/>
            <a:ext cx="1047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" y="1238250"/>
            <a:ext cx="336545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413200" y="1238250"/>
            <a:ext cx="336545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159650" y="1238250"/>
            <a:ext cx="3365599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8"/>
          <p:cNvSpPr/>
          <p:nvPr/>
        </p:nvSpPr>
        <p:spPr>
          <a:xfrm>
            <a:off x="0" y="423862"/>
            <a:ext cx="12192000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8"/>
          <p:cNvSpPr txBox="1"/>
          <p:nvPr/>
        </p:nvSpPr>
        <p:spPr>
          <a:xfrm>
            <a:off x="666750" y="6553200"/>
            <a:ext cx="19145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Group 05</a:t>
            </a:r>
            <a:r>
              <a:rPr lang="en-US" sz="900" b="0" i="0" u="none" strike="noStrike" cap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 | Automated Maze Solver</a:t>
            </a:r>
            <a:endParaRPr/>
          </a:p>
        </p:txBody>
      </p:sp>
      <p:sp>
        <p:nvSpPr>
          <p:cNvPr id="256" name="Google Shape;256;p18"/>
          <p:cNvSpPr txBox="1"/>
          <p:nvPr/>
        </p:nvSpPr>
        <p:spPr>
          <a:xfrm>
            <a:off x="11049000" y="6553200"/>
            <a:ext cx="4762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Page 6/8</a:t>
            </a:r>
            <a:endParaRPr/>
          </a:p>
        </p:txBody>
      </p:sp>
      <p:sp>
        <p:nvSpPr>
          <p:cNvPr id="257" name="Google Shape;257;p18"/>
          <p:cNvSpPr txBox="1"/>
          <p:nvPr/>
        </p:nvSpPr>
        <p:spPr>
          <a:xfrm>
            <a:off x="666750" y="180975"/>
            <a:ext cx="2302787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Data Structures</a:t>
            </a:r>
            <a:endParaRPr/>
          </a:p>
        </p:txBody>
      </p:sp>
      <p:sp>
        <p:nvSpPr>
          <p:cNvPr id="258" name="Google Shape;258;p18"/>
          <p:cNvSpPr txBox="1"/>
          <p:nvPr/>
        </p:nvSpPr>
        <p:spPr>
          <a:xfrm>
            <a:off x="666750" y="514350"/>
            <a:ext cx="2193131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056B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MEMORY &amp; STATE MANAGEMENT</a:t>
            </a:r>
            <a:endParaRPr/>
          </a:p>
        </p:txBody>
      </p:sp>
      <p:sp>
        <p:nvSpPr>
          <p:cNvPr id="259" name="Google Shape;259;p18"/>
          <p:cNvSpPr/>
          <p:nvPr/>
        </p:nvSpPr>
        <p:spPr>
          <a:xfrm>
            <a:off x="4013150" y="1281112"/>
            <a:ext cx="38100" cy="47434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0" name="Google Shape;260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2025" y="153352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8"/>
          <p:cNvSpPr txBox="1"/>
          <p:nvPr/>
        </p:nvSpPr>
        <p:spPr>
          <a:xfrm>
            <a:off x="962025" y="2117080"/>
            <a:ext cx="291364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Global Matrix</a:t>
            </a:r>
            <a:endParaRPr dirty="0"/>
          </a:p>
        </p:txBody>
      </p:sp>
      <p:sp>
        <p:nvSpPr>
          <p:cNvPr id="262" name="Google Shape;262;p18"/>
          <p:cNvSpPr txBox="1"/>
          <p:nvPr/>
        </p:nvSpPr>
        <p:spPr>
          <a:xfrm>
            <a:off x="962025" y="2510135"/>
            <a:ext cx="2774900" cy="25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char maze[ROWS][COLS]</a:t>
            </a:r>
            <a:endParaRPr dirty="0"/>
          </a:p>
        </p:txBody>
      </p:sp>
      <p:sp>
        <p:nvSpPr>
          <p:cNvPr id="263" name="Google Shape;263;p18"/>
          <p:cNvSpPr txBox="1"/>
          <p:nvPr/>
        </p:nvSpPr>
        <p:spPr>
          <a:xfrm>
            <a:off x="962025" y="2902446"/>
            <a:ext cx="27749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125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The use of a static 2D array keeps the stack space small, making function calls simpler.</a:t>
            </a:r>
            <a:endParaRPr dirty="0"/>
          </a:p>
        </p:txBody>
      </p:sp>
      <p:sp>
        <p:nvSpPr>
          <p:cNvPr id="264" name="Google Shape;264;p18"/>
          <p:cNvSpPr/>
          <p:nvPr/>
        </p:nvSpPr>
        <p:spPr>
          <a:xfrm>
            <a:off x="7759600" y="1257300"/>
            <a:ext cx="38100" cy="47434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5" name="Google Shape;265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708475" y="153352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8"/>
          <p:cNvSpPr txBox="1"/>
          <p:nvPr/>
        </p:nvSpPr>
        <p:spPr>
          <a:xfrm>
            <a:off x="4708475" y="2117080"/>
            <a:ext cx="291364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Struct Abstraction</a:t>
            </a:r>
            <a:endParaRPr dirty="0"/>
          </a:p>
        </p:txBody>
      </p:sp>
      <p:sp>
        <p:nvSpPr>
          <p:cNvPr id="267" name="Google Shape;267;p18"/>
          <p:cNvSpPr txBox="1"/>
          <p:nvPr/>
        </p:nvSpPr>
        <p:spPr>
          <a:xfrm>
            <a:off x="4708475" y="2510135"/>
            <a:ext cx="2774900" cy="25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struct Point { int r, c; }</a:t>
            </a:r>
            <a:endParaRPr dirty="0"/>
          </a:p>
        </p:txBody>
      </p:sp>
      <p:sp>
        <p:nvSpPr>
          <p:cNvPr id="268" name="Google Shape;268;p18"/>
          <p:cNvSpPr txBox="1"/>
          <p:nvPr/>
        </p:nvSpPr>
        <p:spPr>
          <a:xfrm>
            <a:off x="4708475" y="2902446"/>
            <a:ext cx="277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Clean encapsulation of grid coordinates for logical grouping.</a:t>
            </a:r>
            <a:endParaRPr dirty="0"/>
          </a:p>
        </p:txBody>
      </p:sp>
      <p:sp>
        <p:nvSpPr>
          <p:cNvPr id="269" name="Google Shape;269;p18"/>
          <p:cNvSpPr/>
          <p:nvPr/>
        </p:nvSpPr>
        <p:spPr>
          <a:xfrm>
            <a:off x="11487789" y="1281112"/>
            <a:ext cx="38100" cy="47434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0" name="Google Shape;270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454925" y="153352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8"/>
          <p:cNvSpPr txBox="1"/>
          <p:nvPr/>
        </p:nvSpPr>
        <p:spPr>
          <a:xfrm>
            <a:off x="8454925" y="2117080"/>
            <a:ext cx="2913801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Persistence</a:t>
            </a:r>
            <a:endParaRPr dirty="0"/>
          </a:p>
        </p:txBody>
      </p:sp>
      <p:sp>
        <p:nvSpPr>
          <p:cNvPr id="272" name="Google Shape;272;p18"/>
          <p:cNvSpPr txBox="1"/>
          <p:nvPr/>
        </p:nvSpPr>
        <p:spPr>
          <a:xfrm>
            <a:off x="8454925" y="2510135"/>
            <a:ext cx="2775049" cy="25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generated_maze.txt</a:t>
            </a:r>
            <a:endParaRPr dirty="0"/>
          </a:p>
        </p:txBody>
      </p:sp>
      <p:sp>
        <p:nvSpPr>
          <p:cNvPr id="273" name="Google Shape;273;p18"/>
          <p:cNvSpPr txBox="1"/>
          <p:nvPr/>
        </p:nvSpPr>
        <p:spPr>
          <a:xfrm>
            <a:off x="8454925" y="2902446"/>
            <a:ext cx="2775049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125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Standard I/O Output provides the ability to check the maze state from outside the CLI.</a:t>
            </a:r>
            <a:endParaRPr dirty="0"/>
          </a:p>
        </p:txBody>
      </p:sp>
      <p:pic>
        <p:nvPicPr>
          <p:cNvPr id="274" name="Google Shape;274;p18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57275" y="162877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18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803725" y="162877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18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573988" y="1628775"/>
            <a:ext cx="142875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744200" y="280987"/>
            <a:ext cx="7810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" y="1238250"/>
            <a:ext cx="5095875" cy="2628155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9"/>
          <p:cNvSpPr/>
          <p:nvPr/>
        </p:nvSpPr>
        <p:spPr>
          <a:xfrm>
            <a:off x="0" y="423862"/>
            <a:ext cx="12192000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9"/>
          <p:cNvSpPr txBox="1"/>
          <p:nvPr/>
        </p:nvSpPr>
        <p:spPr>
          <a:xfrm>
            <a:off x="666750" y="6553200"/>
            <a:ext cx="19145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Group 05</a:t>
            </a:r>
            <a:r>
              <a:rPr lang="en-US" sz="900" b="0" i="0" u="none" strike="noStrike" cap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 | Automated Maze Solver</a:t>
            </a:r>
            <a:endParaRPr/>
          </a:p>
        </p:txBody>
      </p:sp>
      <p:sp>
        <p:nvSpPr>
          <p:cNvPr id="287" name="Google Shape;287;p19"/>
          <p:cNvSpPr txBox="1"/>
          <p:nvPr/>
        </p:nvSpPr>
        <p:spPr>
          <a:xfrm>
            <a:off x="11049000" y="6553200"/>
            <a:ext cx="4762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Page 7/8</a:t>
            </a:r>
            <a:endParaRPr/>
          </a:p>
        </p:txBody>
      </p:sp>
      <p:sp>
        <p:nvSpPr>
          <p:cNvPr id="288" name="Google Shape;288;p19"/>
          <p:cNvSpPr txBox="1"/>
          <p:nvPr/>
        </p:nvSpPr>
        <p:spPr>
          <a:xfrm>
            <a:off x="666750" y="180975"/>
            <a:ext cx="2875671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Execution &amp; Verification</a:t>
            </a:r>
            <a:endParaRPr/>
          </a:p>
        </p:txBody>
      </p:sp>
      <p:sp>
        <p:nvSpPr>
          <p:cNvPr id="289" name="Google Shape;289;p19"/>
          <p:cNvSpPr txBox="1"/>
          <p:nvPr/>
        </p:nvSpPr>
        <p:spPr>
          <a:xfrm>
            <a:off x="666750" y="514350"/>
            <a:ext cx="273873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056B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TERMINAL OUTPUT SIMULATION</a:t>
            </a:r>
            <a:endParaRPr/>
          </a:p>
        </p:txBody>
      </p:sp>
      <p:sp>
        <p:nvSpPr>
          <p:cNvPr id="290" name="Google Shape;290;p19"/>
          <p:cNvSpPr txBox="1"/>
          <p:nvPr/>
        </p:nvSpPr>
        <p:spPr>
          <a:xfrm>
            <a:off x="6429375" y="1238250"/>
            <a:ext cx="5350668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Visual Feedback</a:t>
            </a:r>
            <a:endParaRPr dirty="0"/>
          </a:p>
        </p:txBody>
      </p:sp>
      <p:sp>
        <p:nvSpPr>
          <p:cNvPr id="291" name="Google Shape;291;p19"/>
          <p:cNvSpPr/>
          <p:nvPr/>
        </p:nvSpPr>
        <p:spPr>
          <a:xfrm>
            <a:off x="6429375" y="1600200"/>
            <a:ext cx="5095875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9"/>
          <p:cNvSpPr txBox="1"/>
          <p:nvPr/>
        </p:nvSpPr>
        <p:spPr>
          <a:xfrm>
            <a:off x="6429375" y="1809750"/>
            <a:ext cx="5095875" cy="627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9921"/>
              </a:lnSpc>
            </a:pPr>
            <a:r>
              <a:rPr lang="en-US" sz="1275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The project uses ANSI Escape Codes for a rich terminal command line interface.</a:t>
            </a:r>
            <a:endParaRPr dirty="0"/>
          </a:p>
        </p:txBody>
      </p:sp>
      <p:sp>
        <p:nvSpPr>
          <p:cNvPr id="293" name="Google Shape;293;p19"/>
          <p:cNvSpPr txBox="1"/>
          <p:nvPr/>
        </p:nvSpPr>
        <p:spPr>
          <a:xfrm>
            <a:off x="866775" y="1438275"/>
            <a:ext cx="46958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r>
              <a:rPr lang="en-US" sz="1050" b="0" i="0" u="none" strike="noStrike" cap="non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050" b="0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gcc main.c -o maze_solver</a:t>
            </a:r>
            <a:endParaRPr/>
          </a:p>
        </p:txBody>
      </p:sp>
      <p:sp>
        <p:nvSpPr>
          <p:cNvPr id="294" name="Google Shape;294;p19"/>
          <p:cNvSpPr txBox="1"/>
          <p:nvPr/>
        </p:nvSpPr>
        <p:spPr>
          <a:xfrm>
            <a:off x="866775" y="1651545"/>
            <a:ext cx="46958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[INFO] Compilation successful.</a:t>
            </a:r>
            <a:endParaRPr/>
          </a:p>
        </p:txBody>
      </p:sp>
      <p:sp>
        <p:nvSpPr>
          <p:cNvPr id="295" name="Google Shape;295;p19"/>
          <p:cNvSpPr txBox="1"/>
          <p:nvPr/>
        </p:nvSpPr>
        <p:spPr>
          <a:xfrm>
            <a:off x="866775" y="1864816"/>
            <a:ext cx="46958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r>
              <a:rPr lang="en-US" sz="1050" b="0" i="0" u="none" strike="noStrike" cap="non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050" b="0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./maze_solver</a:t>
            </a:r>
            <a:endParaRPr/>
          </a:p>
        </p:txBody>
      </p:sp>
      <p:sp>
        <p:nvSpPr>
          <p:cNvPr id="296" name="Google Shape;296;p19"/>
          <p:cNvSpPr txBox="1"/>
          <p:nvPr/>
        </p:nvSpPr>
        <p:spPr>
          <a:xfrm>
            <a:off x="866775" y="2078087"/>
            <a:ext cx="46958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[INIT] Grid 21x21 allocated.</a:t>
            </a:r>
            <a:endParaRPr/>
          </a:p>
        </p:txBody>
      </p:sp>
      <p:sp>
        <p:nvSpPr>
          <p:cNvPr id="297" name="Google Shape;297;p19"/>
          <p:cNvSpPr txBox="1"/>
          <p:nvPr/>
        </p:nvSpPr>
        <p:spPr>
          <a:xfrm>
            <a:off x="866775" y="2291357"/>
            <a:ext cx="46958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[GEN] </a:t>
            </a:r>
            <a:r>
              <a:rPr lang="en-US" sz="1050" b="0" i="0" u="none" strike="noStrike" cap="non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Maze Created.</a:t>
            </a:r>
            <a:endParaRPr/>
          </a:p>
        </p:txBody>
      </p:sp>
      <p:sp>
        <p:nvSpPr>
          <p:cNvPr id="298" name="Google Shape;298;p19"/>
          <p:cNvSpPr txBox="1"/>
          <p:nvPr/>
        </p:nvSpPr>
        <p:spPr>
          <a:xfrm>
            <a:off x="866775" y="2504628"/>
            <a:ext cx="46958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[SOLVER] </a:t>
            </a:r>
            <a:r>
              <a:rPr lang="en-US" sz="1050" b="0" i="0" u="none" strike="noStrike" cap="none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Path Found!</a:t>
            </a:r>
            <a:endParaRPr/>
          </a:p>
        </p:txBody>
      </p:sp>
      <p:sp>
        <p:nvSpPr>
          <p:cNvPr id="299" name="Google Shape;299;p19"/>
          <p:cNvSpPr txBox="1"/>
          <p:nvPr/>
        </p:nvSpPr>
        <p:spPr>
          <a:xfrm>
            <a:off x="866775" y="2813149"/>
            <a:ext cx="4695825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# # # # # # # #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# </a:t>
            </a:r>
            <a:r>
              <a:rPr lang="en-US" sz="1050" b="0" i="0" u="none" strike="noStrike" cap="none">
                <a:solidFill>
                  <a:srgbClr val="22C55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</a:t>
            </a:r>
            <a:r>
              <a:rPr lang="en-US" sz="1050" b="0" i="0" u="none" strike="noStrike" cap="non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050" b="0" i="0" u="none" strike="noStrike" cap="none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* *</a:t>
            </a:r>
            <a:r>
              <a:rPr lang="en-US" sz="1050" b="0" i="0" u="none" strike="noStrike" cap="non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# </a:t>
            </a:r>
            <a:r>
              <a:rPr lang="en-US" sz="1050" b="0" i="0" u="none" strike="noStrike" cap="none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*</a:t>
            </a:r>
            <a:r>
              <a:rPr lang="en-US" sz="1050" b="0" i="0" u="none" strike="noStrike" cap="non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# # #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# # # </a:t>
            </a:r>
            <a:r>
              <a:rPr lang="en-US" sz="1050" b="0" i="0" u="none" strike="noStrike" cap="none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*</a:t>
            </a:r>
            <a:r>
              <a:rPr lang="en-US" sz="1050" b="0" i="0" u="none" strike="noStrike" cap="non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# </a:t>
            </a:r>
            <a:r>
              <a:rPr lang="en-US" sz="1050" b="0" i="0" u="none" strike="noStrike" cap="none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* * *</a:t>
            </a:r>
            <a:r>
              <a:rPr lang="en-US" sz="1050" b="0" i="0" u="none" strike="noStrike" cap="non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#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# # # </a:t>
            </a:r>
            <a:r>
              <a:rPr lang="en-US" sz="1050" b="0" i="0" u="none" strike="noStrike" cap="none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* * *</a:t>
            </a:r>
            <a:r>
              <a:rPr lang="en-US" sz="1050" b="0" i="0" u="none" strike="noStrike" cap="non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# </a:t>
            </a:r>
            <a:r>
              <a:rPr lang="en-US" sz="1050" b="0" i="0" u="none" strike="noStrike" cap="none">
                <a:solidFill>
                  <a:srgbClr val="22C55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</a:t>
            </a:r>
            <a:r>
              <a:rPr lang="en-US" sz="1050" b="0" i="0" u="none" strike="noStrike" cap="non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#</a:t>
            </a:r>
            <a:endParaRPr/>
          </a:p>
        </p:txBody>
      </p:sp>
      <p:sp>
        <p:nvSpPr>
          <p:cNvPr id="300" name="Google Shape;300;p19"/>
          <p:cNvSpPr txBox="1"/>
          <p:nvPr/>
        </p:nvSpPr>
        <p:spPr>
          <a:xfrm>
            <a:off x="866775" y="3453110"/>
            <a:ext cx="46958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r>
              <a:rPr lang="en-US" sz="1050" b="0" i="0" u="none" strike="noStrike" cap="non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050" b="0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_</a:t>
            </a:r>
            <a:endParaRPr/>
          </a:p>
        </p:txBody>
      </p:sp>
      <p:sp>
        <p:nvSpPr>
          <p:cNvPr id="301" name="Google Shape;301;p19"/>
          <p:cNvSpPr txBox="1"/>
          <p:nvPr/>
        </p:nvSpPr>
        <p:spPr>
          <a:xfrm>
            <a:off x="6429375" y="2480071"/>
            <a:ext cx="5095875" cy="25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 b="1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Start/End:</a:t>
            </a:r>
            <a:r>
              <a:rPr lang="en-US" sz="1275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Green</a:t>
            </a:r>
            <a:endParaRPr dirty="0"/>
          </a:p>
        </p:txBody>
      </p:sp>
      <p:sp>
        <p:nvSpPr>
          <p:cNvPr id="302" name="Google Shape;302;p19"/>
          <p:cNvSpPr txBox="1"/>
          <p:nvPr/>
        </p:nvSpPr>
        <p:spPr>
          <a:xfrm>
            <a:off x="6429375" y="2834282"/>
            <a:ext cx="5095875" cy="25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 b="1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Path:</a:t>
            </a:r>
            <a:r>
              <a:rPr lang="en-US" sz="1275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Amber/Yellow</a:t>
            </a:r>
            <a:endParaRPr dirty="0"/>
          </a:p>
        </p:txBody>
      </p:sp>
      <p:sp>
        <p:nvSpPr>
          <p:cNvPr id="303" name="Google Shape;303;p19"/>
          <p:cNvSpPr txBox="1"/>
          <p:nvPr/>
        </p:nvSpPr>
        <p:spPr>
          <a:xfrm>
            <a:off x="6429375" y="3188493"/>
            <a:ext cx="5095875" cy="25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 b="1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Walls:</a:t>
            </a:r>
            <a:r>
              <a:rPr lang="en-US" sz="1275" b="0" i="0" u="none" strike="noStrike" cap="none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White/Grey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651434"/>
            <a:ext cx="12192000" cy="15373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0"/>
          <p:cNvSpPr txBox="1"/>
          <p:nvPr/>
        </p:nvSpPr>
        <p:spPr>
          <a:xfrm>
            <a:off x="2295525" y="738336"/>
            <a:ext cx="760095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 dirty="0">
                <a:solidFill>
                  <a:srgbClr val="0056B3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Conclusion: Project Synthesis</a:t>
            </a:r>
            <a:endParaRPr lang="en-US" dirty="0"/>
          </a:p>
        </p:txBody>
      </p:sp>
      <p:sp>
        <p:nvSpPr>
          <p:cNvPr id="311" name="Google Shape;311;p20"/>
          <p:cNvSpPr txBox="1"/>
          <p:nvPr/>
        </p:nvSpPr>
        <p:spPr>
          <a:xfrm>
            <a:off x="2476500" y="2548086"/>
            <a:ext cx="7239000" cy="2326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0"/>
              </a:lnSpc>
            </a:pPr>
            <a:r>
              <a:rPr lang="en-US" sz="1800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The Automated Maze Solver is a success, integrating state-of-the-art procedural generation (Recursive Backtracking) with efficient pathfinding (DFS). The project has proven our competence in optimizing a highly optimized, memory-safe, self-contained system, which implements solutions for fundamental areas of algorithm design, such as efficiency.</a:t>
            </a:r>
          </a:p>
        </p:txBody>
      </p:sp>
      <p:sp>
        <p:nvSpPr>
          <p:cNvPr id="312" name="Google Shape;312;p20"/>
          <p:cNvSpPr txBox="1"/>
          <p:nvPr/>
        </p:nvSpPr>
        <p:spPr>
          <a:xfrm>
            <a:off x="725743" y="6579997"/>
            <a:ext cx="19145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Group 05</a:t>
            </a:r>
            <a:r>
              <a:rPr lang="en-US" sz="900" b="0" i="0" u="none" strike="noStrike" cap="none" dirty="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 | Automated Maze Solver</a:t>
            </a:r>
            <a:endParaRPr dirty="0"/>
          </a:p>
        </p:txBody>
      </p:sp>
      <p:sp>
        <p:nvSpPr>
          <p:cNvPr id="313" name="Google Shape;313;p20"/>
          <p:cNvSpPr txBox="1"/>
          <p:nvPr/>
        </p:nvSpPr>
        <p:spPr>
          <a:xfrm>
            <a:off x="11122741" y="6544278"/>
            <a:ext cx="4762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Page 8/8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686</Words>
  <Application>Microsoft Office PowerPoint</Application>
  <PresentationFormat>Widescreen</PresentationFormat>
  <Paragraphs>90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Inter SemiBold</vt:lpstr>
      <vt:lpstr>Arial</vt:lpstr>
      <vt:lpstr>Inter</vt:lpstr>
      <vt:lpstr>Inter ExtraBold</vt:lpstr>
      <vt:lpstr>Calibri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Lamisa</cp:lastModifiedBy>
  <cp:revision>4</cp:revision>
  <dcterms:modified xsi:type="dcterms:W3CDTF">2025-12-13T18:52:58Z</dcterms:modified>
</cp:coreProperties>
</file>